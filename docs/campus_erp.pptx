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y="6858000" cx="12192000"/>
  <p:notesSz cx="6858000" cy="9144000"/>
  <p:embeddedFontLst>
    <p:embeddedFont>
      <p:font typeface="Inter SemiBold"/>
      <p:regular r:id="rId22"/>
      <p:bold r:id="rId23"/>
      <p:italic r:id="rId24"/>
      <p:boldItalic r:id="rId25"/>
    </p:embeddedFont>
    <p:embeddedFont>
      <p:font typeface="Inter"/>
      <p:regular r:id="rId26"/>
      <p:bold r:id="rId27"/>
      <p:italic r:id="rId28"/>
      <p:boldItalic r:id="rId29"/>
    </p:embeddedFont>
    <p:embeddedFont>
      <p:font typeface="Inter Medium"/>
      <p:regular r:id="rId30"/>
      <p:bold r:id="rId31"/>
      <p:italic r:id="rId32"/>
      <p:boldItalic r:id="rId3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7CC7E89-5EBD-4E16-9A25-65242D073756}">
  <a:tblStyle styleId="{D7CC7E89-5EBD-4E16-9A25-65242D073756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font" Target="fonts/InterSemiBold-regular.fntdata"/><Relationship Id="rId21" Type="http://schemas.openxmlformats.org/officeDocument/2006/relationships/slide" Target="slides/slide15.xml"/><Relationship Id="rId24" Type="http://schemas.openxmlformats.org/officeDocument/2006/relationships/font" Target="fonts/InterSemiBold-italic.fntdata"/><Relationship Id="rId23" Type="http://schemas.openxmlformats.org/officeDocument/2006/relationships/font" Target="fonts/InterSemiBold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Inter-regular.fntdata"/><Relationship Id="rId25" Type="http://schemas.openxmlformats.org/officeDocument/2006/relationships/font" Target="fonts/InterSemiBold-boldItalic.fntdata"/><Relationship Id="rId28" Type="http://schemas.openxmlformats.org/officeDocument/2006/relationships/font" Target="fonts/Inter-italic.fntdata"/><Relationship Id="rId27" Type="http://schemas.openxmlformats.org/officeDocument/2006/relationships/font" Target="fonts/Inter-bold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Inter-bold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InterMedium-bold.fntdata"/><Relationship Id="rId30" Type="http://schemas.openxmlformats.org/officeDocument/2006/relationships/font" Target="fonts/InterMedium-regular.fntdata"/><Relationship Id="rId11" Type="http://schemas.openxmlformats.org/officeDocument/2006/relationships/slide" Target="slides/slide5.xml"/><Relationship Id="rId33" Type="http://schemas.openxmlformats.org/officeDocument/2006/relationships/font" Target="fonts/InterMedium-boldItalic.fntdata"/><Relationship Id="rId10" Type="http://schemas.openxmlformats.org/officeDocument/2006/relationships/slide" Target="slides/slide4.xml"/><Relationship Id="rId32" Type="http://schemas.openxmlformats.org/officeDocument/2006/relationships/font" Target="fonts/InterMedium-italic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1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0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4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Relationship Id="rId4" Type="http://schemas.openxmlformats.org/officeDocument/2006/relationships/image" Target="../media/image4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Relationship Id="rId4" Type="http://schemas.openxmlformats.org/officeDocument/2006/relationships/image" Target="../media/image18.png"/><Relationship Id="rId5" Type="http://schemas.openxmlformats.org/officeDocument/2006/relationships/image" Target="../media/image3.png"/><Relationship Id="rId6" Type="http://schemas.openxmlformats.org/officeDocument/2006/relationships/image" Target="../media/image2.png"/><Relationship Id="rId7" Type="http://schemas.openxmlformats.org/officeDocument/2006/relationships/image" Target="../media/image4.png"/><Relationship Id="rId8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Relationship Id="rId5" Type="http://schemas.openxmlformats.org/officeDocument/2006/relationships/image" Target="../media/image14.png"/><Relationship Id="rId6" Type="http://schemas.openxmlformats.org/officeDocument/2006/relationships/image" Target="../media/image9.png"/><Relationship Id="rId7" Type="http://schemas.openxmlformats.org/officeDocument/2006/relationships/image" Target="../media/image22.png"/><Relationship Id="rId8" Type="http://schemas.openxmlformats.org/officeDocument/2006/relationships/image" Target="../media/image1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Relationship Id="rId4" Type="http://schemas.openxmlformats.org/officeDocument/2006/relationships/image" Target="../media/image6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png"/><Relationship Id="rId4" Type="http://schemas.openxmlformats.org/officeDocument/2006/relationships/image" Target="../media/image19.png"/><Relationship Id="rId5" Type="http://schemas.openxmlformats.org/officeDocument/2006/relationships/image" Target="../media/image12.png"/><Relationship Id="rId6" Type="http://schemas.openxmlformats.org/officeDocument/2006/relationships/image" Target="../media/image17.png"/><Relationship Id="rId7" Type="http://schemas.openxmlformats.org/officeDocument/2006/relationships/image" Target="../media/image40.png"/><Relationship Id="rId8" Type="http://schemas.openxmlformats.org/officeDocument/2006/relationships/image" Target="../media/image5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5.png"/><Relationship Id="rId4" Type="http://schemas.openxmlformats.org/officeDocument/2006/relationships/image" Target="../media/image34.png"/><Relationship Id="rId5" Type="http://schemas.openxmlformats.org/officeDocument/2006/relationships/image" Target="../media/image16.png"/><Relationship Id="rId6" Type="http://schemas.openxmlformats.org/officeDocument/2006/relationships/image" Target="../media/image52.png"/><Relationship Id="rId7" Type="http://schemas.openxmlformats.org/officeDocument/2006/relationships/image" Target="../media/image6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0.png"/><Relationship Id="rId4" Type="http://schemas.openxmlformats.org/officeDocument/2006/relationships/image" Target="../media/image23.png"/><Relationship Id="rId9" Type="http://schemas.openxmlformats.org/officeDocument/2006/relationships/image" Target="../media/image51.png"/><Relationship Id="rId5" Type="http://schemas.openxmlformats.org/officeDocument/2006/relationships/image" Target="../media/image32.png"/><Relationship Id="rId6" Type="http://schemas.openxmlformats.org/officeDocument/2006/relationships/image" Target="../media/image21.png"/><Relationship Id="rId7" Type="http://schemas.openxmlformats.org/officeDocument/2006/relationships/image" Target="../media/image24.png"/><Relationship Id="rId8" Type="http://schemas.openxmlformats.org/officeDocument/2006/relationships/image" Target="../media/image5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3.png"/><Relationship Id="rId4" Type="http://schemas.openxmlformats.org/officeDocument/2006/relationships/image" Target="../media/image26.png"/><Relationship Id="rId5" Type="http://schemas.openxmlformats.org/officeDocument/2006/relationships/image" Target="../media/image27.png"/><Relationship Id="rId6" Type="http://schemas.openxmlformats.org/officeDocument/2006/relationships/image" Target="../media/image43.png"/><Relationship Id="rId7" Type="http://schemas.openxmlformats.org/officeDocument/2006/relationships/image" Target="../media/image53.png"/><Relationship Id="rId8" Type="http://schemas.openxmlformats.org/officeDocument/2006/relationships/image" Target="../media/image5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8.png"/><Relationship Id="rId4" Type="http://schemas.openxmlformats.org/officeDocument/2006/relationships/image" Target="../media/image29.png"/><Relationship Id="rId5" Type="http://schemas.openxmlformats.org/officeDocument/2006/relationships/image" Target="../media/image31.png"/><Relationship Id="rId6" Type="http://schemas.openxmlformats.org/officeDocument/2006/relationships/image" Target="../media/image43.png"/><Relationship Id="rId7" Type="http://schemas.openxmlformats.org/officeDocument/2006/relationships/image" Target="../media/image57.png"/><Relationship Id="rId8" Type="http://schemas.openxmlformats.org/officeDocument/2006/relationships/image" Target="../media/image5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5.png"/><Relationship Id="rId4" Type="http://schemas.openxmlformats.org/officeDocument/2006/relationships/image" Target="../media/image42.png"/><Relationship Id="rId5" Type="http://schemas.openxmlformats.org/officeDocument/2006/relationships/image" Target="../media/image37.png"/><Relationship Id="rId6" Type="http://schemas.openxmlformats.org/officeDocument/2006/relationships/image" Target="../media/image38.png"/><Relationship Id="rId7" Type="http://schemas.openxmlformats.org/officeDocument/2006/relationships/image" Target="../media/image3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5.png"/><Relationship Id="rId4" Type="http://schemas.openxmlformats.org/officeDocument/2006/relationships/image" Target="../media/image36.png"/><Relationship Id="rId5" Type="http://schemas.openxmlformats.org/officeDocument/2006/relationships/image" Target="../media/image45.png"/><Relationship Id="rId6" Type="http://schemas.openxmlformats.org/officeDocument/2006/relationships/image" Target="../media/image61.png"/><Relationship Id="rId7" Type="http://schemas.openxmlformats.org/officeDocument/2006/relationships/image" Target="../media/image5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4.png"/><Relationship Id="rId4" Type="http://schemas.openxmlformats.org/officeDocument/2006/relationships/image" Target="../media/image48.png"/><Relationship Id="rId5" Type="http://schemas.openxmlformats.org/officeDocument/2006/relationships/image" Target="../media/image5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7.png"/><Relationship Id="rId4" Type="http://schemas.openxmlformats.org/officeDocument/2006/relationships/image" Target="../media/image41.png"/><Relationship Id="rId5" Type="http://schemas.openxmlformats.org/officeDocument/2006/relationships/image" Target="../media/image4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25514" y="5638800"/>
            <a:ext cx="6340822" cy="504825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4500800" y="714375"/>
            <a:ext cx="3190398" cy="733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ORIGIN'26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3490912" y="1600200"/>
            <a:ext cx="5210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Team SixSeven</a:t>
            </a:r>
            <a:r>
              <a:rPr b="0" i="0" lang="en-US" sz="180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 | </a:t>
            </a:r>
            <a:r>
              <a:rPr b="0" i="0" lang="en-US" sz="1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Project: Campus ERP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87" name="Google Shape;87;p13"/>
          <p:cNvSpPr txBox="1"/>
          <p:nvPr/>
        </p:nvSpPr>
        <p:spPr>
          <a:xfrm>
            <a:off x="2200275" y="2247900"/>
            <a:ext cx="779145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Problem Statement:</a:t>
            </a:r>
            <a:r>
              <a:rPr b="0" i="0" lang="en-US" sz="1650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 PS-6: ERP-based Integrated Student Management System</a:t>
            </a:r>
            <a:endParaRPr/>
          </a:p>
        </p:txBody>
      </p:sp>
      <p:graphicFrame>
        <p:nvGraphicFramePr>
          <p:cNvPr id="88" name="Google Shape;88;p13"/>
          <p:cNvGraphicFramePr/>
          <p:nvPr/>
        </p:nvGraphicFramePr>
        <p:xfrm>
          <a:off x="1683990" y="296227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{D7CC7E89-5EBD-4E16-9A25-65242D073756}</a:tableStyleId>
              </a:tblPr>
              <a:tblGrid>
                <a:gridCol w="4365275"/>
                <a:gridCol w="4449075"/>
              </a:tblGrid>
              <a:tr h="573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111827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Name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111827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Registration Number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AFB"/>
                    </a:solidFill>
                  </a:tcPr>
                </a:tc>
              </a:tr>
              <a:tr h="573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7415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Parth Pancholi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7415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25BCE10443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3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7415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Adarsh Pratap Singh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7415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25BCE10285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3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7415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Disha Dashore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7415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25BAI10444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89" name="Google Shape;89;p13"/>
          <p:cNvSpPr txBox="1"/>
          <p:nvPr/>
        </p:nvSpPr>
        <p:spPr>
          <a:xfrm>
            <a:off x="3163639" y="5762625"/>
            <a:ext cx="58647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Deployment Link: </a:t>
            </a:r>
            <a:r>
              <a:rPr lang="en-US" sz="1350">
                <a:solidFill>
                  <a:srgbClr val="374151"/>
                </a:solidFill>
              </a:rPr>
              <a:t>https://team-sixseven-erp.vercel.app/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4"/>
          <p:cNvSpPr txBox="1"/>
          <p:nvPr/>
        </p:nvSpPr>
        <p:spPr>
          <a:xfrm>
            <a:off x="581025" y="485775"/>
            <a:ext cx="11581447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The Problem Statement (PS-6)</a:t>
            </a:r>
            <a:endParaRPr/>
          </a:p>
        </p:txBody>
      </p:sp>
      <p:sp>
        <p:nvSpPr>
          <p:cNvPr id="95" name="Google Shape;95;p14"/>
          <p:cNvSpPr txBox="1"/>
          <p:nvPr/>
        </p:nvSpPr>
        <p:spPr>
          <a:xfrm>
            <a:off x="847725" y="1343025"/>
            <a:ext cx="10763250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Disconnected Systems:</a:t>
            </a:r>
            <a:r>
              <a:rPr b="0" i="0" lang="en-US" sz="1275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 Institutes run admissions, timetables, attendance, fees, exams and scores across disconnected spreadsheets, registers and paper trails.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847725" y="1962150"/>
            <a:ext cx="10763250" cy="2428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No Single Source of Truth:</a:t>
            </a:r>
            <a:r>
              <a:rPr b="0" i="0" lang="en-US" sz="1275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 The admin office, a faculty member and a student each see a different, often stale, picture of the same record.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847725" y="2338387"/>
            <a:ext cx="10763250" cy="2428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Manual Overheads:</a:t>
            </a:r>
            <a:r>
              <a:rPr b="0" i="0" lang="en-US" sz="1275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 Re-staffing a timetable when a teacher goes on leave is done by hand, class by class.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847725" y="2714625"/>
            <a:ext cx="10763250" cy="2428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Data Drift:</a:t>
            </a:r>
            <a:r>
              <a:rPr b="0" i="0" lang="en-US" sz="1275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 Marks are entered on paper before being typed into a spreadsheet, so grades and marks can silently disagree.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847725" y="3090862"/>
            <a:ext cx="10763250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Financial Disconnect:</a:t>
            </a:r>
            <a:r>
              <a:rPr b="0" i="0" lang="en-US" sz="1275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 Fee and fine balances are tracked separately from the ledger that produced them, so a due amount can drift from reality.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847725" y="3805237"/>
            <a:ext cx="10763250" cy="2428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The Goal:</a:t>
            </a:r>
            <a:r>
              <a:rPr b="0" i="0" lang="en-US" sz="1275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 One ERP where every number is always the live truth, not a cached guess.</a:t>
            </a:r>
            <a:endParaRPr/>
          </a:p>
        </p:txBody>
      </p:sp>
      <p:pic>
        <p:nvPicPr>
          <p:cNvPr descr="image.png" id="101" name="Google Shape;101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1025" y="1404937"/>
            <a:ext cx="85725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2" name="Google Shape;10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1025" y="2024062"/>
            <a:ext cx="85725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3" name="Google Shape;10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1025" y="2400300"/>
            <a:ext cx="85725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4" name="Google Shape;104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1025" y="2776537"/>
            <a:ext cx="85725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5" name="Google Shape;105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1025" y="3152775"/>
            <a:ext cx="85725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6" name="Google Shape;106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3867150"/>
            <a:ext cx="104775" cy="123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5"/>
          <p:cNvSpPr txBox="1"/>
          <p:nvPr/>
        </p:nvSpPr>
        <p:spPr>
          <a:xfrm>
            <a:off x="581025" y="485775"/>
            <a:ext cx="11581447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Proposed Solution</a:t>
            </a:r>
            <a:endParaRPr/>
          </a:p>
        </p:txBody>
      </p:sp>
      <p:sp>
        <p:nvSpPr>
          <p:cNvPr id="112" name="Google Shape;112;p15"/>
          <p:cNvSpPr txBox="1"/>
          <p:nvPr/>
        </p:nvSpPr>
        <p:spPr>
          <a:xfrm>
            <a:off x="847725" y="1152525"/>
            <a:ext cx="5057775" cy="7286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A single web application with four role-based interfaces — Admin, Faculty, Student, Applicant — all reading and writing the same MongoDB-backed API.</a:t>
            </a:r>
            <a:endParaRPr/>
          </a:p>
        </p:txBody>
      </p:sp>
      <p:sp>
        <p:nvSpPr>
          <p:cNvPr id="113" name="Google Shape;113;p15"/>
          <p:cNvSpPr txBox="1"/>
          <p:nvPr/>
        </p:nvSpPr>
        <p:spPr>
          <a:xfrm>
            <a:off x="847725" y="2014537"/>
            <a:ext cx="5057775" cy="7286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Nothing is hardcoded and nothing is pre-seeded: every figure (attendance %, fees due, grade, timetable slot) is computed live from the records that produced it.</a:t>
            </a:r>
            <a:endParaRPr/>
          </a:p>
        </p:txBody>
      </p:sp>
      <p:sp>
        <p:nvSpPr>
          <p:cNvPr id="114" name="Google Shape;114;p15"/>
          <p:cNvSpPr txBox="1"/>
          <p:nvPr/>
        </p:nvSpPr>
        <p:spPr>
          <a:xfrm>
            <a:off x="847725" y="2876550"/>
            <a:ext cx="5057775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A background consistency checker continuously verifies that every derived number still agrees with its source records.</a:t>
            </a:r>
            <a:endParaRPr/>
          </a:p>
        </p:txBody>
      </p:sp>
      <p:sp>
        <p:nvSpPr>
          <p:cNvPr id="115" name="Google Shape;115;p15"/>
          <p:cNvSpPr txBox="1"/>
          <p:nvPr/>
        </p:nvSpPr>
        <p:spPr>
          <a:xfrm>
            <a:off x="847725" y="3495675"/>
            <a:ext cx="5057775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A Gemini-powered chatbot on the login page guides new applicants through admission and sign-in.</a:t>
            </a:r>
            <a:endParaRPr/>
          </a:p>
        </p:txBody>
      </p:sp>
      <p:sp>
        <p:nvSpPr>
          <p:cNvPr id="116" name="Google Shape;116;p15"/>
          <p:cNvSpPr txBox="1"/>
          <p:nvPr/>
        </p:nvSpPr>
        <p:spPr>
          <a:xfrm>
            <a:off x="847725" y="4114800"/>
            <a:ext cx="5057775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Force-directed knowledge graphs visualise how courses, faculty and students actually connect.</a:t>
            </a:r>
            <a:endParaRPr/>
          </a:p>
        </p:txBody>
      </p:sp>
      <p:pic>
        <p:nvPicPr>
          <p:cNvPr descr="image.png" id="117" name="Google Shape;117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1025" y="1214437"/>
            <a:ext cx="114300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8" name="Google Shape;118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1025" y="2076450"/>
            <a:ext cx="114300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9" name="Google Shape;119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1025" y="2938462"/>
            <a:ext cx="114300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0" name="Google Shape;120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1025" y="3557587"/>
            <a:ext cx="114300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1" name="Google Shape;121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1025" y="4176712"/>
            <a:ext cx="114300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06350" y="1233499"/>
            <a:ext cx="6265477" cy="40964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7" name="Google Shape;127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1025" y="1152525"/>
            <a:ext cx="11029950" cy="521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6"/>
          <p:cNvSpPr txBox="1"/>
          <p:nvPr/>
        </p:nvSpPr>
        <p:spPr>
          <a:xfrm>
            <a:off x="581025" y="485775"/>
            <a:ext cx="11581447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System Architecture</a:t>
            </a:r>
            <a:endParaRPr/>
          </a:p>
        </p:txBody>
      </p:sp>
      <p:sp>
        <p:nvSpPr>
          <p:cNvPr id="129" name="Google Shape;129;p16"/>
          <p:cNvSpPr txBox="1"/>
          <p:nvPr/>
        </p:nvSpPr>
        <p:spPr>
          <a:xfrm>
            <a:off x="847725" y="1152525"/>
            <a:ext cx="10763250" cy="2428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One Express 5 REST API under /api, backed by a single MongoDB database via Mongoose 9.</a:t>
            </a:r>
            <a:endParaRPr/>
          </a:p>
        </p:txBody>
      </p:sp>
      <p:sp>
        <p:nvSpPr>
          <p:cNvPr id="130" name="Google Shape;130;p16"/>
          <p:cNvSpPr txBox="1"/>
          <p:nvPr/>
        </p:nvSpPr>
        <p:spPr>
          <a:xfrm>
            <a:off x="847725" y="1528762"/>
            <a:ext cx="10763250" cy="2428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One React 19 single-page app, routed with React Router, that renders a different portal depending on which role signed in.</a:t>
            </a:r>
            <a:endParaRPr/>
          </a:p>
        </p:txBody>
      </p:sp>
      <p:sp>
        <p:nvSpPr>
          <p:cNvPr id="131" name="Google Shape;131;p16"/>
          <p:cNvSpPr txBox="1"/>
          <p:nvPr/>
        </p:nvSpPr>
        <p:spPr>
          <a:xfrm>
            <a:off x="847725" y="1905000"/>
            <a:ext cx="10763250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Session identity is resolved from the signed-in user, not a hardcoded constant — the same component renders correctly for whichever student or faculty member is logged in.</a:t>
            </a:r>
            <a:endParaRPr/>
          </a:p>
        </p:txBody>
      </p:sp>
      <p:sp>
        <p:nvSpPr>
          <p:cNvPr id="132" name="Google Shape;132;p16"/>
          <p:cNvSpPr txBox="1"/>
          <p:nvPr/>
        </p:nvSpPr>
        <p:spPr>
          <a:xfrm>
            <a:off x="847725" y="2524125"/>
            <a:ext cx="10763250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Backend and frontend are two independent processes joined only by the API base URL, so either can be redeployed without touching the other.</a:t>
            </a:r>
            <a:endParaRPr/>
          </a:p>
        </p:txBody>
      </p:sp>
      <p:sp>
        <p:nvSpPr>
          <p:cNvPr id="133" name="Google Shape;133;p16"/>
          <p:cNvSpPr txBox="1"/>
          <p:nvPr/>
        </p:nvSpPr>
        <p:spPr>
          <a:xfrm>
            <a:off x="847725" y="3143250"/>
            <a:ext cx="10763250" cy="2428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A checkConsistency() audit function in the backend scans every collection and flags any figure that no longer matches its source.</a:t>
            </a:r>
            <a:endParaRPr/>
          </a:p>
        </p:txBody>
      </p:sp>
      <p:pic>
        <p:nvPicPr>
          <p:cNvPr descr="image.png" id="134" name="Google Shape;134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1214437"/>
            <a:ext cx="114300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5" name="Google Shape;135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025" y="1590675"/>
            <a:ext cx="114300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6" name="Google Shape;136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1025" y="1966912"/>
            <a:ext cx="85725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7" name="Google Shape;137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81025" y="2586037"/>
            <a:ext cx="142875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8" name="Google Shape;138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81025" y="3205162"/>
            <a:ext cx="114300" cy="123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3" name="Google Shape;143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1025" y="1152525"/>
            <a:ext cx="3524250" cy="5219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4" name="Google Shape;144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33875" y="1152525"/>
            <a:ext cx="3524250" cy="5219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5" name="Google Shape;145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086725" y="1152525"/>
            <a:ext cx="3524250" cy="521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7"/>
          <p:cNvSpPr txBox="1"/>
          <p:nvPr/>
        </p:nvSpPr>
        <p:spPr>
          <a:xfrm>
            <a:off x="581025" y="485775"/>
            <a:ext cx="11581447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Tech Stack</a:t>
            </a:r>
            <a:endParaRPr/>
          </a:p>
        </p:txBody>
      </p:sp>
      <p:sp>
        <p:nvSpPr>
          <p:cNvPr id="147" name="Google Shape;147;p17"/>
          <p:cNvSpPr txBox="1"/>
          <p:nvPr/>
        </p:nvSpPr>
        <p:spPr>
          <a:xfrm>
            <a:off x="819150" y="1866900"/>
            <a:ext cx="32004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Frontend</a:t>
            </a:r>
            <a:endParaRPr/>
          </a:p>
        </p:txBody>
      </p:sp>
      <p:sp>
        <p:nvSpPr>
          <p:cNvPr id="148" name="Google Shape;148;p17"/>
          <p:cNvSpPr txBox="1"/>
          <p:nvPr/>
        </p:nvSpPr>
        <p:spPr>
          <a:xfrm>
            <a:off x="819150" y="2228850"/>
            <a:ext cx="3048000" cy="923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React 19, React Router, Vite, Tailwind CSS v4, shadcn/ui, Framer Motion, React Flow (org chart), react-force-graph-2d (knowledge graphs).</a:t>
            </a:r>
            <a:endParaRPr/>
          </a:p>
        </p:txBody>
      </p:sp>
      <p:sp>
        <p:nvSpPr>
          <p:cNvPr id="149" name="Google Shape;149;p17"/>
          <p:cNvSpPr txBox="1"/>
          <p:nvPr/>
        </p:nvSpPr>
        <p:spPr>
          <a:xfrm>
            <a:off x="4572000" y="1866900"/>
            <a:ext cx="32004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Backend</a:t>
            </a:r>
            <a:endParaRPr/>
          </a:p>
        </p:txBody>
      </p:sp>
      <p:sp>
        <p:nvSpPr>
          <p:cNvPr id="150" name="Google Shape;150;p17"/>
          <p:cNvSpPr txBox="1"/>
          <p:nvPr/>
        </p:nvSpPr>
        <p:spPr>
          <a:xfrm>
            <a:off x="4572000" y="2228850"/>
            <a:ext cx="3048000" cy="923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Node.js, Express 5, MongoDB, Mongoose 9, Google Gemini API (chatbot), and Node's built-in test runner (node --test) for automated testing.</a:t>
            </a:r>
            <a:endParaRPr/>
          </a:p>
        </p:txBody>
      </p:sp>
      <p:sp>
        <p:nvSpPr>
          <p:cNvPr id="151" name="Google Shape;151;p17"/>
          <p:cNvSpPr txBox="1"/>
          <p:nvPr/>
        </p:nvSpPr>
        <p:spPr>
          <a:xfrm>
            <a:off x="8324850" y="1866900"/>
            <a:ext cx="32004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Data Strategy</a:t>
            </a:r>
            <a:endParaRPr/>
          </a:p>
        </p:txBody>
      </p:sp>
      <p:sp>
        <p:nvSpPr>
          <p:cNvPr id="152" name="Google Shape;152;p17"/>
          <p:cNvSpPr txBox="1"/>
          <p:nvPr/>
        </p:nvSpPr>
        <p:spPr>
          <a:xfrm>
            <a:off x="8324850" y="2228850"/>
            <a:ext cx="3048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No seed script. The database starts empty and every record is created through the app itself, keeping the demo data identical to what a real deployment would look like.</a:t>
            </a:r>
            <a:endParaRPr/>
          </a:p>
        </p:txBody>
      </p:sp>
      <p:pic>
        <p:nvPicPr>
          <p:cNvPr descr="image.png" id="153" name="Google Shape;153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9150" y="1419225"/>
            <a:ext cx="333375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4" name="Google Shape;154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23925" y="5743575"/>
            <a:ext cx="17145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17"/>
          <p:cNvSpPr txBox="1"/>
          <p:nvPr/>
        </p:nvSpPr>
        <p:spPr>
          <a:xfrm>
            <a:off x="1247775" y="5629275"/>
            <a:ext cx="25146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11827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Includes xlsx for spreadsheet export</a:t>
            </a:r>
            <a:endParaRPr/>
          </a:p>
        </p:txBody>
      </p:sp>
      <p:pic>
        <p:nvPicPr>
          <p:cNvPr descr="image.png" id="156" name="Google Shape;156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572000" y="1419225"/>
            <a:ext cx="2667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7" name="Google Shape;157;p1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324850" y="1419225"/>
            <a:ext cx="238125" cy="266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8"/>
          <p:cNvSpPr txBox="1"/>
          <p:nvPr/>
        </p:nvSpPr>
        <p:spPr>
          <a:xfrm>
            <a:off x="581025" y="485775"/>
            <a:ext cx="11581447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Login &amp; Role-Based Access</a:t>
            </a:r>
            <a:endParaRPr/>
          </a:p>
        </p:txBody>
      </p:sp>
      <p:sp>
        <p:nvSpPr>
          <p:cNvPr id="163" name="Google Shape;163;p18"/>
          <p:cNvSpPr txBox="1"/>
          <p:nvPr/>
        </p:nvSpPr>
        <p:spPr>
          <a:xfrm>
            <a:off x="847725" y="1152525"/>
            <a:ext cx="5057775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One login page serving four portals — Admin, Faculty, Student, Applicant — selected with a single toggle.</a:t>
            </a:r>
            <a:endParaRPr/>
          </a:p>
        </p:txBody>
      </p:sp>
      <p:sp>
        <p:nvSpPr>
          <p:cNvPr id="164" name="Google Shape;164;p18"/>
          <p:cNvSpPr txBox="1"/>
          <p:nvPr/>
        </p:nvSpPr>
        <p:spPr>
          <a:xfrm>
            <a:off x="847725" y="1771650"/>
            <a:ext cx="5057775" cy="7286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The backend, not the frontend, decides which portal an account belongs to, so a faculty login can never land on the admin console.</a:t>
            </a:r>
            <a:endParaRPr/>
          </a:p>
        </p:txBody>
      </p:sp>
      <p:sp>
        <p:nvSpPr>
          <p:cNvPr id="165" name="Google Shape;165;p18"/>
          <p:cNvSpPr txBox="1"/>
          <p:nvPr/>
        </p:nvSpPr>
        <p:spPr>
          <a:xfrm>
            <a:off x="847725" y="2633662"/>
            <a:ext cx="5057775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Session state persists in the browser so a refresh keeps the same signed-in identity.</a:t>
            </a:r>
            <a:endParaRPr/>
          </a:p>
        </p:txBody>
      </p:sp>
      <p:sp>
        <p:nvSpPr>
          <p:cNvPr id="166" name="Google Shape;166;p18"/>
          <p:cNvSpPr txBox="1"/>
          <p:nvPr/>
        </p:nvSpPr>
        <p:spPr>
          <a:xfrm>
            <a:off x="847725" y="3252787"/>
            <a:ext cx="5057775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The same page carries the AI admissions chatbot for anyone who isn't sure how to apply or sign in.</a:t>
            </a:r>
            <a:endParaRPr/>
          </a:p>
        </p:txBody>
      </p:sp>
      <p:sp>
        <p:nvSpPr>
          <p:cNvPr id="167" name="Google Shape;167;p18"/>
          <p:cNvSpPr txBox="1"/>
          <p:nvPr/>
        </p:nvSpPr>
        <p:spPr>
          <a:xfrm>
            <a:off x="847725" y="3871912"/>
            <a:ext cx="5057775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"Apply for admission" links straight into the applicant flow for new users.</a:t>
            </a:r>
            <a:endParaRPr/>
          </a:p>
        </p:txBody>
      </p:sp>
      <p:pic>
        <p:nvPicPr>
          <p:cNvPr descr="image.png" id="168" name="Google Shape;168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1025" y="1214437"/>
            <a:ext cx="114300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9" name="Google Shape;169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1025" y="1833562"/>
            <a:ext cx="114300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0" name="Google Shape;170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1025" y="2695575"/>
            <a:ext cx="114300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1" name="Google Shape;171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1025" y="3314700"/>
            <a:ext cx="114300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2" name="Google Shape;172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1025" y="3933825"/>
            <a:ext cx="114300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57900" y="391975"/>
            <a:ext cx="5562712" cy="5629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9"/>
          <p:cNvSpPr txBox="1"/>
          <p:nvPr/>
        </p:nvSpPr>
        <p:spPr>
          <a:xfrm>
            <a:off x="581025" y="485775"/>
            <a:ext cx="11581447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Admin Portal: Dashboard &amp; Organisation</a:t>
            </a:r>
            <a:endParaRPr/>
          </a:p>
        </p:txBody>
      </p:sp>
      <p:pic>
        <p:nvPicPr>
          <p:cNvPr descr="image.png" id="179" name="Google Shape;179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1050" y="1393031"/>
            <a:ext cx="17145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19"/>
          <p:cNvSpPr txBox="1"/>
          <p:nvPr/>
        </p:nvSpPr>
        <p:spPr>
          <a:xfrm>
            <a:off x="1104900" y="1276350"/>
            <a:ext cx="6677025" cy="4619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Export to .csv / .xlsx</a:t>
            </a:r>
            <a:r>
              <a:rPr b="0" i="0" lang="en-US" sz="12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0" i="0" lang="en-US" sz="120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Every data table on every admin page can be exported directly to a spreadsheet with a single click.</a:t>
            </a:r>
            <a:endParaRPr/>
          </a:p>
        </p:txBody>
      </p:sp>
      <p:sp>
        <p:nvSpPr>
          <p:cNvPr id="181" name="Google Shape;181;p19"/>
          <p:cNvSpPr txBox="1"/>
          <p:nvPr/>
        </p:nvSpPr>
        <p:spPr>
          <a:xfrm>
            <a:off x="847725" y="2014537"/>
            <a:ext cx="10763250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Institute-wide dashboard: live counts of students, faculty and departments straight from the database (currently 9 students, 6 faculty, across 4 departments).</a:t>
            </a:r>
            <a:endParaRPr/>
          </a:p>
        </p:txBody>
      </p:sp>
      <p:sp>
        <p:nvSpPr>
          <p:cNvPr id="182" name="Google Shape;182;p19"/>
          <p:cNvSpPr txBox="1"/>
          <p:nvPr/>
        </p:nvSpPr>
        <p:spPr>
          <a:xfrm>
            <a:off x="847725" y="2633662"/>
            <a:ext cx="10763250" cy="2428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A React Flow organisation chart lays out the institute's actual department and reporting structure.</a:t>
            </a:r>
            <a:endParaRPr/>
          </a:p>
        </p:txBody>
      </p:sp>
      <p:sp>
        <p:nvSpPr>
          <p:cNvPr id="183" name="Google Shape;183;p19"/>
          <p:cNvSpPr txBox="1"/>
          <p:nvPr/>
        </p:nvSpPr>
        <p:spPr>
          <a:xfrm>
            <a:off x="847725" y="3009900"/>
            <a:ext cx="10763250" cy="2428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Departmental breakdowns and enrolment charts replace what used to be a static summary page.</a:t>
            </a:r>
            <a:endParaRPr/>
          </a:p>
        </p:txBody>
      </p:sp>
      <p:pic>
        <p:nvPicPr>
          <p:cNvPr descr="image.png" id="184" name="Google Shape;184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076450"/>
            <a:ext cx="133350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5" name="Google Shape;185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025" y="2695575"/>
            <a:ext cx="133350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6" name="Google Shape;186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1025" y="3071812"/>
            <a:ext cx="114300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1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061239" y="3252775"/>
            <a:ext cx="6101238" cy="34766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1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0" y="3252774"/>
            <a:ext cx="6101228" cy="34706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0"/>
          <p:cNvSpPr txBox="1"/>
          <p:nvPr/>
        </p:nvSpPr>
        <p:spPr>
          <a:xfrm>
            <a:off x="581025" y="485775"/>
            <a:ext cx="11581447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Admin Portal: Admissions, Finance &amp; Scores</a:t>
            </a:r>
            <a:endParaRPr/>
          </a:p>
        </p:txBody>
      </p:sp>
      <p:sp>
        <p:nvSpPr>
          <p:cNvPr id="194" name="Google Shape;194;p20"/>
          <p:cNvSpPr txBox="1"/>
          <p:nvPr/>
        </p:nvSpPr>
        <p:spPr>
          <a:xfrm>
            <a:off x="847725" y="1152525"/>
            <a:ext cx="10763250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Admissions pipeline:</a:t>
            </a:r>
            <a:r>
              <a:rPr b="0" i="0" lang="en-US" sz="1275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 Review an application, approve/reject it, and collect the seat fee — approval and payment together issue the student a login.</a:t>
            </a:r>
            <a:endParaRPr/>
          </a:p>
        </p:txBody>
      </p:sp>
      <p:sp>
        <p:nvSpPr>
          <p:cNvPr id="195" name="Google Shape;195;p20"/>
          <p:cNvSpPr txBox="1"/>
          <p:nvPr/>
        </p:nvSpPr>
        <p:spPr>
          <a:xfrm>
            <a:off x="847725" y="1771650"/>
            <a:ext cx="10763250" cy="2428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Finance dashboards:</a:t>
            </a:r>
            <a:r>
              <a:rPr b="0" i="0" lang="en-US" sz="1275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 Cover tuition collection, admission fees and payroll, each broken down by chart rather than a single number.</a:t>
            </a:r>
            <a:endParaRPr/>
          </a:p>
        </p:txBody>
      </p:sp>
      <p:sp>
        <p:nvSpPr>
          <p:cNvPr id="196" name="Google Shape;196;p20"/>
          <p:cNvSpPr txBox="1"/>
          <p:nvPr/>
        </p:nvSpPr>
        <p:spPr>
          <a:xfrm>
            <a:off x="847725" y="2147887"/>
            <a:ext cx="10763250" cy="2428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Score overview:</a:t>
            </a:r>
            <a:r>
              <a:rPr b="0" i="0" lang="en-US" sz="1275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 Aggregates every published exam result across departments and courses.</a:t>
            </a:r>
            <a:endParaRPr/>
          </a:p>
        </p:txBody>
      </p:sp>
      <p:sp>
        <p:nvSpPr>
          <p:cNvPr id="197" name="Google Shape;197;p20"/>
          <p:cNvSpPr txBox="1"/>
          <p:nvPr/>
        </p:nvSpPr>
        <p:spPr>
          <a:xfrm>
            <a:off x="847725" y="2524125"/>
            <a:ext cx="10763250" cy="2428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A background job flags any paid admission that never resulted in an enrolled student, preventing lost payments.</a:t>
            </a:r>
            <a:endParaRPr/>
          </a:p>
        </p:txBody>
      </p:sp>
      <p:pic>
        <p:nvPicPr>
          <p:cNvPr descr="image.png" id="198" name="Google Shape;198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1025" y="1214437"/>
            <a:ext cx="142875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9" name="Google Shape;199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1833562"/>
            <a:ext cx="114300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0" name="Google Shape;200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025" y="2209800"/>
            <a:ext cx="142875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52400" y="2919412"/>
            <a:ext cx="6678825" cy="3786189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2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702450" y="3756699"/>
            <a:ext cx="5489551" cy="31012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1"/>
          <p:cNvSpPr txBox="1"/>
          <p:nvPr/>
        </p:nvSpPr>
        <p:spPr>
          <a:xfrm>
            <a:off x="581025" y="485775"/>
            <a:ext cx="11581447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Admin Portal: Timetable Management</a:t>
            </a:r>
            <a:endParaRPr/>
          </a:p>
        </p:txBody>
      </p:sp>
      <p:sp>
        <p:nvSpPr>
          <p:cNvPr id="208" name="Google Shape;208;p21"/>
          <p:cNvSpPr txBox="1"/>
          <p:nvPr/>
        </p:nvSpPr>
        <p:spPr>
          <a:xfrm>
            <a:off x="847725" y="1152525"/>
            <a:ext cx="5057775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Shared Grid:</a:t>
            </a:r>
            <a:r>
              <a:rPr b="0" i="0" lang="en-US" sz="1275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 A single shared timetable grid — the exact same data students and faculty see, not a separate copy per role.</a:t>
            </a:r>
            <a:endParaRPr/>
          </a:p>
        </p:txBody>
      </p:sp>
      <p:sp>
        <p:nvSpPr>
          <p:cNvPr id="209" name="Google Shape;209;p21"/>
          <p:cNvSpPr txBox="1"/>
          <p:nvPr/>
        </p:nvSpPr>
        <p:spPr>
          <a:xfrm>
            <a:off x="847725" y="1771650"/>
            <a:ext cx="5057775" cy="7286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Automatic Re-staffing:</a:t>
            </a:r>
            <a:r>
              <a:rPr b="0" i="0" lang="en-US" sz="1275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 Marking a teacher unavailable (or leave approved) automatically re-staffs their slots to a free colleague at read time.</a:t>
            </a:r>
            <a:endParaRPr/>
          </a:p>
        </p:txBody>
      </p:sp>
      <p:sp>
        <p:nvSpPr>
          <p:cNvPr id="210" name="Google Shape;210;p21"/>
          <p:cNvSpPr txBox="1"/>
          <p:nvPr/>
        </p:nvSpPr>
        <p:spPr>
          <a:xfrm>
            <a:off x="847725" y="2633662"/>
            <a:ext cx="5057775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Seamless Recovery:</a:t>
            </a:r>
            <a:r>
              <a:rPr b="0" i="0" lang="en-US" sz="1275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 A returning teacher automatically gets their own slots back — nothing is permanently overwritten.</a:t>
            </a:r>
            <a:endParaRPr/>
          </a:p>
        </p:txBody>
      </p:sp>
      <p:sp>
        <p:nvSpPr>
          <p:cNvPr id="211" name="Google Shape;211;p21"/>
          <p:cNvSpPr txBox="1"/>
          <p:nvPr/>
        </p:nvSpPr>
        <p:spPr>
          <a:xfrm>
            <a:off x="6553200" y="1152525"/>
            <a:ext cx="5057775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Single-Teacher View:</a:t>
            </a:r>
            <a:r>
              <a:rPr b="0" i="0" lang="en-US" sz="1275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 Admins can pick one teacher at a time to see just their schedule, highlighted against the full grid.</a:t>
            </a:r>
            <a:endParaRPr/>
          </a:p>
        </p:txBody>
      </p:sp>
      <p:sp>
        <p:nvSpPr>
          <p:cNvPr id="212" name="Google Shape;212;p21"/>
          <p:cNvSpPr txBox="1"/>
          <p:nvPr/>
        </p:nvSpPr>
        <p:spPr>
          <a:xfrm>
            <a:off x="6553200" y="1771650"/>
            <a:ext cx="5057775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Audit Trail:</a:t>
            </a:r>
            <a:r>
              <a:rPr b="0" i="0" lang="en-US" sz="1275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 A "Changes" tab lists every reassignment made, flagging any slot that could not be covered as "Needs cover".</a:t>
            </a:r>
            <a:endParaRPr/>
          </a:p>
        </p:txBody>
      </p:sp>
      <p:sp>
        <p:nvSpPr>
          <p:cNvPr id="213" name="Google Shape;213;p21"/>
          <p:cNvSpPr txBox="1"/>
          <p:nvPr/>
        </p:nvSpPr>
        <p:spPr>
          <a:xfrm>
            <a:off x="6553200" y="2390775"/>
            <a:ext cx="5057775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Versioning:</a:t>
            </a:r>
            <a:r>
              <a:rPr b="0" i="0" lang="en-US" sz="1275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 The rebuild versions the timetable (v1, v2) so admins can see when it last regenerated.</a:t>
            </a:r>
            <a:endParaRPr/>
          </a:p>
        </p:txBody>
      </p:sp>
      <p:pic>
        <p:nvPicPr>
          <p:cNvPr descr="image.png" id="214" name="Google Shape;214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1025" y="1214437"/>
            <a:ext cx="104775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5" name="Google Shape;215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1833562"/>
            <a:ext cx="114300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6" name="Google Shape;216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025" y="2695575"/>
            <a:ext cx="114300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7" name="Google Shape;217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86500" y="1833562"/>
            <a:ext cx="114300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8" name="Google Shape;218;p2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286500" y="2452687"/>
            <a:ext cx="104775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p2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52400" y="3271837"/>
            <a:ext cx="6109773" cy="3433764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p21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6400798" y="3525050"/>
            <a:ext cx="5625027" cy="31805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2"/>
          <p:cNvSpPr txBox="1"/>
          <p:nvPr/>
        </p:nvSpPr>
        <p:spPr>
          <a:xfrm>
            <a:off x="581025" y="485775"/>
            <a:ext cx="11581447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Faculty Portal</a:t>
            </a:r>
            <a:endParaRPr/>
          </a:p>
        </p:txBody>
      </p:sp>
      <p:sp>
        <p:nvSpPr>
          <p:cNvPr id="226" name="Google Shape;226;p22"/>
          <p:cNvSpPr txBox="1"/>
          <p:nvPr/>
        </p:nvSpPr>
        <p:spPr>
          <a:xfrm>
            <a:off x="847725" y="1152525"/>
            <a:ext cx="10763250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Personal dashboard:</a:t>
            </a:r>
            <a:r>
              <a:rPr b="0" i="0" lang="en-US" sz="1275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 Scoped to the signed-in faculty member's own courses, students and weekly schedule. Includes attendance marking.</a:t>
            </a:r>
            <a:endParaRPr/>
          </a:p>
        </p:txBody>
      </p:sp>
      <p:sp>
        <p:nvSpPr>
          <p:cNvPr id="227" name="Google Shape;227;p22"/>
          <p:cNvSpPr txBox="1"/>
          <p:nvPr/>
        </p:nvSpPr>
        <p:spPr>
          <a:xfrm>
            <a:off x="847725" y="1771650"/>
            <a:ext cx="10763250" cy="2428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Leave application flow:</a:t>
            </a:r>
            <a:r>
              <a:rPr b="0" i="0" lang="en-US" sz="1275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 The admin timetable reacts automatically the moment a leave is approved.</a:t>
            </a:r>
            <a:endParaRPr/>
          </a:p>
        </p:txBody>
      </p:sp>
      <p:sp>
        <p:nvSpPr>
          <p:cNvPr id="228" name="Google Shape;228;p22"/>
          <p:cNvSpPr txBox="1"/>
          <p:nvPr/>
        </p:nvSpPr>
        <p:spPr>
          <a:xfrm>
            <a:off x="847725" y="2147887"/>
            <a:ext cx="10763250" cy="2428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Marks entry per exam:</a:t>
            </a:r>
            <a:r>
              <a:rPr b="0" i="0" lang="en-US" sz="1275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 Grades are computed automatically from marks — a faculty member never has to work out grade boundaries.</a:t>
            </a:r>
            <a:endParaRPr/>
          </a:p>
        </p:txBody>
      </p:sp>
      <p:sp>
        <p:nvSpPr>
          <p:cNvPr id="229" name="Google Shape;229;p22"/>
          <p:cNvSpPr txBox="1"/>
          <p:nvPr/>
        </p:nvSpPr>
        <p:spPr>
          <a:xfrm>
            <a:off x="847725" y="2524125"/>
            <a:ext cx="10763250" cy="2428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Knowledge graph:</a:t>
            </a:r>
            <a:r>
              <a:rPr b="0" i="0" lang="en-US" sz="1275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 Force-directed graph showing the faculty member at the centre, branching out to courses taught and students enrolled.</a:t>
            </a:r>
            <a:endParaRPr/>
          </a:p>
        </p:txBody>
      </p:sp>
      <p:pic>
        <p:nvPicPr>
          <p:cNvPr descr="image.png" id="230" name="Google Shape;230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1025" y="1214437"/>
            <a:ext cx="142875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1" name="Google Shape;231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1833562"/>
            <a:ext cx="142875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2" name="Google Shape;232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025" y="2209800"/>
            <a:ext cx="85725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3" name="Google Shape;233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1025" y="2586037"/>
            <a:ext cx="133350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" name="Google Shape;234;p2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52400" y="2919412"/>
            <a:ext cx="6667336" cy="3786187"/>
          </a:xfrm>
          <a:prstGeom prst="rect">
            <a:avLst/>
          </a:prstGeom>
          <a:noFill/>
          <a:ln>
            <a:noFill/>
          </a:ln>
        </p:spPr>
      </p:pic>
      <p:pic>
        <p:nvPicPr>
          <p:cNvPr id="235" name="Google Shape;235;p22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283450" y="2524125"/>
            <a:ext cx="5908552" cy="33523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23"/>
          <p:cNvSpPr txBox="1"/>
          <p:nvPr/>
        </p:nvSpPr>
        <p:spPr>
          <a:xfrm>
            <a:off x="581025" y="485775"/>
            <a:ext cx="11581500" cy="43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Student Portal</a:t>
            </a:r>
            <a:endParaRPr/>
          </a:p>
        </p:txBody>
      </p:sp>
      <p:sp>
        <p:nvSpPr>
          <p:cNvPr id="241" name="Google Shape;241;p23"/>
          <p:cNvSpPr txBox="1"/>
          <p:nvPr/>
        </p:nvSpPr>
        <p:spPr>
          <a:xfrm>
            <a:off x="847725" y="1152525"/>
            <a:ext cx="10763400" cy="2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Personal dashboard:</a:t>
            </a:r>
            <a:r>
              <a:rPr b="0" i="0" lang="en-US" sz="1275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 Scoped to the student's own attendance, fees, fines, courses and scores.</a:t>
            </a:r>
            <a:endParaRPr/>
          </a:p>
        </p:txBody>
      </p:sp>
      <p:sp>
        <p:nvSpPr>
          <p:cNvPr id="242" name="Google Shape;242;p23"/>
          <p:cNvSpPr txBox="1"/>
          <p:nvPr/>
        </p:nvSpPr>
        <p:spPr>
          <a:xfrm>
            <a:off x="847725" y="1528762"/>
            <a:ext cx="10763400" cy="2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Progress visuals:</a:t>
            </a:r>
            <a:r>
              <a:rPr b="0" i="0" lang="en-US" sz="1275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 CGPA and attendance-trend charts replace a static percentage, making progress visible over time.</a:t>
            </a:r>
            <a:endParaRPr/>
          </a:p>
        </p:txBody>
      </p:sp>
      <p:sp>
        <p:nvSpPr>
          <p:cNvPr id="243" name="Google Shape;243;p23"/>
          <p:cNvSpPr txBox="1"/>
          <p:nvPr/>
        </p:nvSpPr>
        <p:spPr>
          <a:xfrm>
            <a:off x="847725" y="1905000"/>
            <a:ext cx="10763400" cy="2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Financial tracking:</a:t>
            </a:r>
            <a:r>
              <a:rPr b="0" i="0" lang="en-US" sz="1275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 Fee payments and outstanding fines with real backend errors surfaced instead of fake confirmations.</a:t>
            </a:r>
            <a:endParaRPr/>
          </a:p>
        </p:txBody>
      </p:sp>
      <p:sp>
        <p:nvSpPr>
          <p:cNvPr id="244" name="Google Shape;244;p23"/>
          <p:cNvSpPr txBox="1"/>
          <p:nvPr/>
        </p:nvSpPr>
        <p:spPr>
          <a:xfrm>
            <a:off x="847725" y="2281237"/>
            <a:ext cx="10763400" cy="2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Knowledge graph:</a:t>
            </a:r>
            <a:r>
              <a:rPr b="0" i="0" lang="en-US" sz="1275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 Force-directed graph putting the student at the centre, branching to enrolled courses and professors.</a:t>
            </a:r>
            <a:endParaRPr/>
          </a:p>
        </p:txBody>
      </p:sp>
      <p:pic>
        <p:nvPicPr>
          <p:cNvPr descr="image.png" id="245" name="Google Shape;245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1025" y="1214437"/>
            <a:ext cx="104775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6" name="Google Shape;246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1590675"/>
            <a:ext cx="114300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7" name="Google Shape;247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025" y="1966912"/>
            <a:ext cx="133350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8" name="Google Shape;248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1025" y="2343150"/>
            <a:ext cx="133350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9" name="Google Shape;249;p2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52400" y="2676637"/>
            <a:ext cx="7119340" cy="4028962"/>
          </a:xfrm>
          <a:prstGeom prst="rect">
            <a:avLst/>
          </a:prstGeom>
          <a:noFill/>
          <a:ln>
            <a:noFill/>
          </a:ln>
        </p:spPr>
      </p:pic>
      <p:pic>
        <p:nvPicPr>
          <p:cNvPr id="250" name="Google Shape;250;p23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424140" y="3800237"/>
            <a:ext cx="4615460" cy="26119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55" name="Google Shape;255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1025" y="1152525"/>
            <a:ext cx="5419725" cy="2514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6" name="Google Shape;256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91250" y="1152525"/>
            <a:ext cx="5419725" cy="2514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7" name="Google Shape;257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1025" y="3857625"/>
            <a:ext cx="5419725" cy="2514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8" name="Google Shape;258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91250" y="3857625"/>
            <a:ext cx="5419725" cy="2514600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24"/>
          <p:cNvSpPr txBox="1"/>
          <p:nvPr/>
        </p:nvSpPr>
        <p:spPr>
          <a:xfrm>
            <a:off x="581025" y="485775"/>
            <a:ext cx="11581447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Applicant Portal</a:t>
            </a:r>
            <a:endParaRPr/>
          </a:p>
        </p:txBody>
      </p:sp>
      <p:sp>
        <p:nvSpPr>
          <p:cNvPr id="260" name="Google Shape;260;p24"/>
          <p:cNvSpPr txBox="1"/>
          <p:nvPr/>
        </p:nvSpPr>
        <p:spPr>
          <a:xfrm>
            <a:off x="819150" y="1695450"/>
            <a:ext cx="5190648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Public Application Flow</a:t>
            </a:r>
            <a:endParaRPr/>
          </a:p>
        </p:txBody>
      </p:sp>
      <p:sp>
        <p:nvSpPr>
          <p:cNvPr id="261" name="Google Shape;261;p24"/>
          <p:cNvSpPr txBox="1"/>
          <p:nvPr/>
        </p:nvSpPr>
        <p:spPr>
          <a:xfrm>
            <a:off x="819150" y="2057400"/>
            <a:ext cx="49434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A public application form for prospective students, entirely separate from the main sign-in flow to ease onboarding.</a:t>
            </a:r>
            <a:endParaRPr/>
          </a:p>
        </p:txBody>
      </p:sp>
      <p:sp>
        <p:nvSpPr>
          <p:cNvPr id="262" name="Google Shape;262;p24"/>
          <p:cNvSpPr txBox="1"/>
          <p:nvPr/>
        </p:nvSpPr>
        <p:spPr>
          <a:xfrm>
            <a:off x="6429375" y="1695450"/>
            <a:ext cx="5190648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Live Status Tracking</a:t>
            </a:r>
            <a:endParaRPr/>
          </a:p>
        </p:txBody>
      </p:sp>
      <p:sp>
        <p:nvSpPr>
          <p:cNvPr id="263" name="Google Shape;263;p24"/>
          <p:cNvSpPr txBox="1"/>
          <p:nvPr/>
        </p:nvSpPr>
        <p:spPr>
          <a:xfrm>
            <a:off x="6429375" y="2057400"/>
            <a:ext cx="49434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Application status (Pending / Approved / Rejected) is visible to the applicant, driven directly by the same record the admin reviews.</a:t>
            </a:r>
            <a:endParaRPr/>
          </a:p>
        </p:txBody>
      </p:sp>
      <p:sp>
        <p:nvSpPr>
          <p:cNvPr id="264" name="Google Shape;264;p24"/>
          <p:cNvSpPr txBox="1"/>
          <p:nvPr/>
        </p:nvSpPr>
        <p:spPr>
          <a:xfrm>
            <a:off x="819150" y="4400550"/>
            <a:ext cx="5190648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Seat-Fee Gate</a:t>
            </a:r>
            <a:endParaRPr/>
          </a:p>
        </p:txBody>
      </p:sp>
      <p:sp>
        <p:nvSpPr>
          <p:cNvPr id="265" name="Google Shape;265;p24"/>
          <p:cNvSpPr txBox="1"/>
          <p:nvPr/>
        </p:nvSpPr>
        <p:spPr>
          <a:xfrm>
            <a:off x="819150" y="4762500"/>
            <a:ext cx="49434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Seat-fee payment is only unlocked once approved. Paying this fee is the trigger that issues the applicant's actual student login.</a:t>
            </a:r>
            <a:endParaRPr/>
          </a:p>
        </p:txBody>
      </p:sp>
      <p:sp>
        <p:nvSpPr>
          <p:cNvPr id="266" name="Google Shape;266;p24"/>
          <p:cNvSpPr txBox="1"/>
          <p:nvPr/>
        </p:nvSpPr>
        <p:spPr>
          <a:xfrm>
            <a:off x="6429375" y="4400550"/>
            <a:ext cx="5190648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Continuous Support</a:t>
            </a:r>
            <a:endParaRPr/>
          </a:p>
        </p:txBody>
      </p:sp>
      <p:sp>
        <p:nvSpPr>
          <p:cNvPr id="267" name="Google Shape;267;p24"/>
          <p:cNvSpPr txBox="1"/>
          <p:nvPr/>
        </p:nvSpPr>
        <p:spPr>
          <a:xfrm>
            <a:off x="6429375" y="4762500"/>
            <a:ext cx="49434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The login-page chatbot remains available throughout to answer "how do I apply" and "what happens next" questions instantly.</a:t>
            </a:r>
            <a:endParaRPr/>
          </a:p>
        </p:txBody>
      </p:sp>
      <p:pic>
        <p:nvPicPr>
          <p:cNvPr descr="image.png" id="268" name="Google Shape;268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19150" y="1371600"/>
            <a:ext cx="238125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9" name="Google Shape;269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29375" y="1371600"/>
            <a:ext cx="209550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0" name="Google Shape;270;p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9150" y="4076700"/>
            <a:ext cx="238125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1" name="Google Shape;271;p2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429375" y="4076700"/>
            <a:ext cx="266700" cy="209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76" name="Google Shape;276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1025" y="1152525"/>
            <a:ext cx="5419725" cy="2514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7" name="Google Shape;277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91250" y="1152525"/>
            <a:ext cx="5419725" cy="2514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8" name="Google Shape;278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1025" y="3857625"/>
            <a:ext cx="5419725" cy="2514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9" name="Google Shape;279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91250" y="3857625"/>
            <a:ext cx="5419725" cy="2514600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p25"/>
          <p:cNvSpPr txBox="1"/>
          <p:nvPr/>
        </p:nvSpPr>
        <p:spPr>
          <a:xfrm>
            <a:off x="581025" y="485775"/>
            <a:ext cx="11581447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AI Admissions Chatbot</a:t>
            </a:r>
            <a:endParaRPr/>
          </a:p>
        </p:txBody>
      </p:sp>
      <p:sp>
        <p:nvSpPr>
          <p:cNvPr id="281" name="Google Shape;281;p25"/>
          <p:cNvSpPr txBox="1"/>
          <p:nvPr/>
        </p:nvSpPr>
        <p:spPr>
          <a:xfrm>
            <a:off x="819150" y="1695450"/>
            <a:ext cx="5190648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Gemini-Powered</a:t>
            </a:r>
            <a:endParaRPr/>
          </a:p>
        </p:txBody>
      </p:sp>
      <p:sp>
        <p:nvSpPr>
          <p:cNvPr id="282" name="Google Shape;282;p25"/>
          <p:cNvSpPr txBox="1"/>
          <p:nvPr/>
        </p:nvSpPr>
        <p:spPr>
          <a:xfrm>
            <a:off x="819150" y="2057400"/>
            <a:ext cx="4943475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Google Gemini-powered assistant embedded in the login page, scoped specifically to guiding visitors through the admission and sign-in process.</a:t>
            </a:r>
            <a:endParaRPr/>
          </a:p>
        </p:txBody>
      </p:sp>
      <p:sp>
        <p:nvSpPr>
          <p:cNvPr id="283" name="Google Shape;283;p25"/>
          <p:cNvSpPr txBox="1"/>
          <p:nvPr/>
        </p:nvSpPr>
        <p:spPr>
          <a:xfrm>
            <a:off x="6429375" y="1695450"/>
            <a:ext cx="5190648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Structured Responses</a:t>
            </a:r>
            <a:endParaRPr/>
          </a:p>
        </p:txBody>
      </p:sp>
      <p:sp>
        <p:nvSpPr>
          <p:cNvPr id="284" name="Google Shape;284;p25"/>
          <p:cNvSpPr txBox="1"/>
          <p:nvPr/>
        </p:nvSpPr>
        <p:spPr>
          <a:xfrm>
            <a:off x="6429375" y="2057400"/>
            <a:ext cx="49434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Answers are capped at five lines and returned in a structured JSON format that the frontend renders directly for a clean UI.</a:t>
            </a:r>
            <a:endParaRPr/>
          </a:p>
        </p:txBody>
      </p:sp>
      <p:sp>
        <p:nvSpPr>
          <p:cNvPr id="285" name="Google Shape;285;p25"/>
          <p:cNvSpPr txBox="1"/>
          <p:nvPr/>
        </p:nvSpPr>
        <p:spPr>
          <a:xfrm>
            <a:off x="819150" y="4400550"/>
            <a:ext cx="5190648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Jailbreak Resistant</a:t>
            </a:r>
            <a:endParaRPr/>
          </a:p>
        </p:txBody>
      </p:sp>
      <p:sp>
        <p:nvSpPr>
          <p:cNvPr id="286" name="Google Shape;286;p25"/>
          <p:cNvSpPr txBox="1"/>
          <p:nvPr/>
        </p:nvSpPr>
        <p:spPr>
          <a:xfrm>
            <a:off x="819150" y="4762500"/>
            <a:ext cx="49434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Highly resistant to jailbreak-style prompts ("ignore all previous instructions"). The bot stays on topic regardless of commands.</a:t>
            </a:r>
            <a:endParaRPr/>
          </a:p>
        </p:txBody>
      </p:sp>
      <p:sp>
        <p:nvSpPr>
          <p:cNvPr id="287" name="Google Shape;287;p25"/>
          <p:cNvSpPr txBox="1"/>
          <p:nvPr/>
        </p:nvSpPr>
        <p:spPr>
          <a:xfrm>
            <a:off x="6429375" y="4400550"/>
            <a:ext cx="5190648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Graceful Fallback</a:t>
            </a:r>
            <a:endParaRPr/>
          </a:p>
        </p:txBody>
      </p:sp>
      <p:sp>
        <p:nvSpPr>
          <p:cNvPr id="288" name="Google Shape;288;p25"/>
          <p:cNvSpPr txBox="1"/>
          <p:nvPr/>
        </p:nvSpPr>
        <p:spPr>
          <a:xfrm>
            <a:off x="6429375" y="4762500"/>
            <a:ext cx="49434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Any question it can't answer, or any API failure, falls back to a fixed support contact (support@origin.edu) rather than hallucinating.</a:t>
            </a:r>
            <a:endParaRPr/>
          </a:p>
        </p:txBody>
      </p:sp>
      <p:pic>
        <p:nvPicPr>
          <p:cNvPr descr="image.png" id="289" name="Google Shape;289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19150" y="1371600"/>
            <a:ext cx="209550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0" name="Google Shape;290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29375" y="1371600"/>
            <a:ext cx="180975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1" name="Google Shape;291;p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9150" y="4076700"/>
            <a:ext cx="209550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2" name="Google Shape;292;p2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429375" y="4076700"/>
            <a:ext cx="209550" cy="209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26"/>
          <p:cNvSpPr txBox="1"/>
          <p:nvPr/>
        </p:nvSpPr>
        <p:spPr>
          <a:xfrm>
            <a:off x="581025" y="485775"/>
            <a:ext cx="11581447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Data Integrity &amp; Live Wiring</a:t>
            </a:r>
            <a:endParaRPr/>
          </a:p>
        </p:txBody>
      </p:sp>
      <p:sp>
        <p:nvSpPr>
          <p:cNvPr id="298" name="Google Shape;298;p26"/>
          <p:cNvSpPr txBox="1"/>
          <p:nvPr/>
        </p:nvSpPr>
        <p:spPr>
          <a:xfrm>
            <a:off x="847725" y="1152525"/>
            <a:ext cx="5057775" cy="7286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Zero Seed Data:</a:t>
            </a:r>
            <a:r>
              <a:rPr b="0" i="0" lang="en-US" sz="1275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 No hardcoded data anywhere in the app and no seed script — the database starts empty and every screen reads real records.</a:t>
            </a:r>
            <a:endParaRPr/>
          </a:p>
        </p:txBody>
      </p:sp>
      <p:sp>
        <p:nvSpPr>
          <p:cNvPr id="299" name="Google Shape;299;p26"/>
          <p:cNvSpPr txBox="1"/>
          <p:nvPr/>
        </p:nvSpPr>
        <p:spPr>
          <a:xfrm>
            <a:off x="847725" y="2014537"/>
            <a:ext cx="5057775" cy="7286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Test Automation:</a:t>
            </a:r>
            <a:r>
              <a:rPr b="0" i="0" lang="en-US" sz="1275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 Backed by an automated test suite (Node's built-in test runner) asserting the database has zero consistency issues.</a:t>
            </a:r>
            <a:endParaRPr/>
          </a:p>
        </p:txBody>
      </p:sp>
      <p:sp>
        <p:nvSpPr>
          <p:cNvPr id="300" name="Google Shape;300;p26"/>
          <p:cNvSpPr txBox="1"/>
          <p:nvPr/>
        </p:nvSpPr>
        <p:spPr>
          <a:xfrm>
            <a:off x="847725" y="2876550"/>
            <a:ext cx="5057775" cy="7286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Synchronous UI:</a:t>
            </a:r>
            <a:r>
              <a:rPr b="0" i="0" lang="en-US" sz="1275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 Every dialog waits for the real backend response before closing, showing real failures instead of optimistic fake successes.</a:t>
            </a:r>
            <a:endParaRPr/>
          </a:p>
        </p:txBody>
      </p:sp>
      <p:sp>
        <p:nvSpPr>
          <p:cNvPr id="301" name="Google Shape;301;p26"/>
          <p:cNvSpPr txBox="1"/>
          <p:nvPr/>
        </p:nvSpPr>
        <p:spPr>
          <a:xfrm>
            <a:off x="6553200" y="1171575"/>
            <a:ext cx="505777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Strict Cross-Validation:</a:t>
            </a:r>
            <a:r>
              <a:rPr b="0" i="0" lang="en-US" sz="1275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 A background checkConsistency routine cross-validates:</a:t>
            </a:r>
            <a:endParaRPr/>
          </a:p>
        </p:txBody>
      </p:sp>
      <p:pic>
        <p:nvPicPr>
          <p:cNvPr descr="image.png" id="302" name="Google Shape;302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1025" y="1214437"/>
            <a:ext cx="104775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3" name="Google Shape;303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076450"/>
            <a:ext cx="114300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4" name="Google Shape;304;p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025" y="2938462"/>
            <a:ext cx="114300" cy="123825"/>
          </a:xfrm>
          <a:prstGeom prst="rect">
            <a:avLst/>
          </a:prstGeom>
          <a:noFill/>
          <a:ln>
            <a:noFill/>
          </a:ln>
        </p:spPr>
      </p:pic>
      <p:sp>
        <p:nvSpPr>
          <p:cNvPr id="305" name="Google Shape;305;p26"/>
          <p:cNvSpPr txBox="1"/>
          <p:nvPr/>
        </p:nvSpPr>
        <p:spPr>
          <a:xfrm>
            <a:off x="6686550" y="1750218"/>
            <a:ext cx="571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▪</a:t>
            </a:r>
            <a:endParaRPr/>
          </a:p>
        </p:txBody>
      </p:sp>
      <p:sp>
        <p:nvSpPr>
          <p:cNvPr id="306" name="Google Shape;306;p26"/>
          <p:cNvSpPr txBox="1"/>
          <p:nvPr/>
        </p:nvSpPr>
        <p:spPr>
          <a:xfrm>
            <a:off x="7010400" y="1752600"/>
            <a:ext cx="4600575" cy="2428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5715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Attendance percentages vs register</a:t>
            </a:r>
            <a:endParaRPr/>
          </a:p>
        </p:txBody>
      </p:sp>
      <p:sp>
        <p:nvSpPr>
          <p:cNvPr id="307" name="Google Shape;307;p26"/>
          <p:cNvSpPr txBox="1"/>
          <p:nvPr/>
        </p:nvSpPr>
        <p:spPr>
          <a:xfrm>
            <a:off x="6686550" y="2069306"/>
            <a:ext cx="571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▪</a:t>
            </a:r>
            <a:endParaRPr/>
          </a:p>
        </p:txBody>
      </p:sp>
      <p:sp>
        <p:nvSpPr>
          <p:cNvPr id="308" name="Google Shape;308;p26"/>
          <p:cNvSpPr txBox="1"/>
          <p:nvPr/>
        </p:nvSpPr>
        <p:spPr>
          <a:xfrm>
            <a:off x="7010400" y="2071687"/>
            <a:ext cx="4600575" cy="2428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5715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Fee balances vs fee heads</a:t>
            </a:r>
            <a:endParaRPr/>
          </a:p>
        </p:txBody>
      </p:sp>
      <p:sp>
        <p:nvSpPr>
          <p:cNvPr id="309" name="Google Shape;309;p26"/>
          <p:cNvSpPr txBox="1"/>
          <p:nvPr/>
        </p:nvSpPr>
        <p:spPr>
          <a:xfrm>
            <a:off x="6686550" y="2388393"/>
            <a:ext cx="571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▪</a:t>
            </a:r>
            <a:endParaRPr/>
          </a:p>
        </p:txBody>
      </p:sp>
      <p:sp>
        <p:nvSpPr>
          <p:cNvPr id="310" name="Google Shape;310;p26"/>
          <p:cNvSpPr txBox="1"/>
          <p:nvPr/>
        </p:nvSpPr>
        <p:spPr>
          <a:xfrm>
            <a:off x="7010400" y="2390775"/>
            <a:ext cx="4600575" cy="2428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5715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Fine totals vs unpaid fines</a:t>
            </a:r>
            <a:endParaRPr/>
          </a:p>
        </p:txBody>
      </p:sp>
      <p:sp>
        <p:nvSpPr>
          <p:cNvPr id="311" name="Google Shape;311;p26"/>
          <p:cNvSpPr txBox="1"/>
          <p:nvPr/>
        </p:nvSpPr>
        <p:spPr>
          <a:xfrm>
            <a:off x="6686550" y="2707481"/>
            <a:ext cx="571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▪</a:t>
            </a:r>
            <a:endParaRPr/>
          </a:p>
        </p:txBody>
      </p:sp>
      <p:sp>
        <p:nvSpPr>
          <p:cNvPr id="312" name="Google Shape;312;p26"/>
          <p:cNvSpPr txBox="1"/>
          <p:nvPr/>
        </p:nvSpPr>
        <p:spPr>
          <a:xfrm>
            <a:off x="7010400" y="2709862"/>
            <a:ext cx="4600575" cy="2428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5715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Grades vs raw marks</a:t>
            </a:r>
            <a:endParaRPr/>
          </a:p>
        </p:txBody>
      </p:sp>
      <p:sp>
        <p:nvSpPr>
          <p:cNvPr id="313" name="Google Shape;313;p26"/>
          <p:cNvSpPr txBox="1"/>
          <p:nvPr/>
        </p:nvSpPr>
        <p:spPr>
          <a:xfrm>
            <a:off x="6686550" y="3026568"/>
            <a:ext cx="571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▪</a:t>
            </a:r>
            <a:endParaRPr/>
          </a:p>
        </p:txBody>
      </p:sp>
      <p:sp>
        <p:nvSpPr>
          <p:cNvPr id="314" name="Google Shape;314;p26"/>
          <p:cNvSpPr txBox="1"/>
          <p:nvPr/>
        </p:nvSpPr>
        <p:spPr>
          <a:xfrm>
            <a:off x="7010400" y="3028950"/>
            <a:ext cx="4600575" cy="2428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5715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Faculty leave status vs actual approved leave</a:t>
            </a:r>
            <a:endParaRPr/>
          </a:p>
        </p:txBody>
      </p:sp>
      <p:sp>
        <p:nvSpPr>
          <p:cNvPr id="315" name="Google Shape;315;p26"/>
          <p:cNvSpPr txBox="1"/>
          <p:nvPr/>
        </p:nvSpPr>
        <p:spPr>
          <a:xfrm>
            <a:off x="6686550" y="3345656"/>
            <a:ext cx="571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▪</a:t>
            </a:r>
            <a:endParaRPr/>
          </a:p>
        </p:txBody>
      </p:sp>
      <p:sp>
        <p:nvSpPr>
          <p:cNvPr id="316" name="Google Shape;316;p26"/>
          <p:cNvSpPr txBox="1"/>
          <p:nvPr/>
        </p:nvSpPr>
        <p:spPr>
          <a:xfrm>
            <a:off x="7010400" y="3348037"/>
            <a:ext cx="4600575" cy="2428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5715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Every foreign reference against its target record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21" name="Google Shape;321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09279" y="5388768"/>
            <a:ext cx="6573440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322" name="Google Shape;322;p27"/>
          <p:cNvSpPr txBox="1"/>
          <p:nvPr/>
        </p:nvSpPr>
        <p:spPr>
          <a:xfrm>
            <a:off x="2550556" y="859631"/>
            <a:ext cx="7090886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Conclusion &amp; Future Scope</a:t>
            </a:r>
            <a:endParaRPr/>
          </a:p>
        </p:txBody>
      </p:sp>
      <p:sp>
        <p:nvSpPr>
          <p:cNvPr id="323" name="Google Shape;323;p27"/>
          <p:cNvSpPr/>
          <p:nvPr/>
        </p:nvSpPr>
        <p:spPr>
          <a:xfrm>
            <a:off x="5524500" y="2021681"/>
            <a:ext cx="1143000" cy="1905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27"/>
          <p:cNvSpPr txBox="1"/>
          <p:nvPr/>
        </p:nvSpPr>
        <p:spPr>
          <a:xfrm>
            <a:off x="1809750" y="2326481"/>
            <a:ext cx="857250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111827"/>
                </a:solidFill>
                <a:latin typeface="Inter Medium"/>
                <a:ea typeface="Inter Medium"/>
                <a:cs typeface="Inter Medium"/>
                <a:sym typeface="Inter Medium"/>
              </a:rPr>
              <a:t>Origin replaces four disconnected spreadsheets with one live, role-aware ERP where every screen reads the same source of truth.</a:t>
            </a:r>
            <a:endParaRPr/>
          </a:p>
        </p:txBody>
      </p:sp>
      <p:sp>
        <p:nvSpPr>
          <p:cNvPr id="325" name="Google Shape;325;p27"/>
          <p:cNvSpPr txBox="1"/>
          <p:nvPr/>
        </p:nvSpPr>
        <p:spPr>
          <a:xfrm>
            <a:off x="3123604" y="5550693"/>
            <a:ext cx="59448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Deployment:</a:t>
            </a:r>
            <a:r>
              <a:rPr b="0" i="0" lang="en-US" sz="1500" u="none" cap="none" strike="noStrike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500">
                <a:solidFill>
                  <a:srgbClr val="374151"/>
                </a:solidFill>
              </a:rPr>
              <a:t>https://team-sixseven-erp.vercel.app/</a:t>
            </a:r>
            <a:endParaRPr/>
          </a:p>
        </p:txBody>
      </p:sp>
      <p:sp>
        <p:nvSpPr>
          <p:cNvPr id="326" name="Google Shape;326;p27"/>
          <p:cNvSpPr txBox="1"/>
          <p:nvPr/>
        </p:nvSpPr>
        <p:spPr>
          <a:xfrm>
            <a:off x="2314575" y="3259931"/>
            <a:ext cx="7829550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Delivered:</a:t>
            </a:r>
            <a:r>
              <a:rPr b="0" i="0" lang="en-US" sz="1275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 Admissions, timetabling with automatic re-staffing, attendance, fees, exams and scores, an AI admissions assistant, and knowledge-graph visualisations.</a:t>
            </a:r>
            <a:endParaRPr/>
          </a:p>
        </p:txBody>
      </p:sp>
      <p:sp>
        <p:nvSpPr>
          <p:cNvPr id="327" name="Google Shape;327;p27"/>
          <p:cNvSpPr txBox="1"/>
          <p:nvPr/>
        </p:nvSpPr>
        <p:spPr>
          <a:xfrm>
            <a:off x="2314575" y="3879056"/>
            <a:ext cx="7829550" cy="2428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Future:</a:t>
            </a:r>
            <a:r>
              <a:rPr b="0" i="0" lang="en-US" sz="1275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 Real authentication and session tokens for enterprise security.</a:t>
            </a:r>
            <a:endParaRPr/>
          </a:p>
        </p:txBody>
      </p:sp>
      <p:sp>
        <p:nvSpPr>
          <p:cNvPr id="328" name="Google Shape;328;p27"/>
          <p:cNvSpPr txBox="1"/>
          <p:nvPr/>
        </p:nvSpPr>
        <p:spPr>
          <a:xfrm>
            <a:off x="2314575" y="4255293"/>
            <a:ext cx="7829550" cy="2428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Future:</a:t>
            </a:r>
            <a:r>
              <a:rPr b="0" i="0" lang="en-US" sz="1275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 Integration of a production payment gateway.</a:t>
            </a:r>
            <a:endParaRPr/>
          </a:p>
        </p:txBody>
      </p:sp>
      <p:sp>
        <p:nvSpPr>
          <p:cNvPr id="329" name="Google Shape;329;p27"/>
          <p:cNvSpPr txBox="1"/>
          <p:nvPr/>
        </p:nvSpPr>
        <p:spPr>
          <a:xfrm>
            <a:off x="2314575" y="4631531"/>
            <a:ext cx="7829550" cy="2428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Future:</a:t>
            </a:r>
            <a:r>
              <a:rPr b="0" i="0" lang="en-US" sz="1275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 Dedicated mobile app and richer historical analytics.</a:t>
            </a:r>
            <a:endParaRPr/>
          </a:p>
        </p:txBody>
      </p:sp>
      <p:pic>
        <p:nvPicPr>
          <p:cNvPr descr="image.png" id="330" name="Google Shape;330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047875" y="3321843"/>
            <a:ext cx="104775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1" name="Google Shape;331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047875" y="3940968"/>
            <a:ext cx="104775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2" name="Google Shape;332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047875" y="4317206"/>
            <a:ext cx="104775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3" name="Google Shape;333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047875" y="4693443"/>
            <a:ext cx="104775" cy="123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